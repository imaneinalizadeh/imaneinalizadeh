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4565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D78D6"/>
          </a:solidFill>
          <a:ln w="12700">
            <a:solidFill>
              <a:srgbClr val="2D78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MSc Dissertation  ·  EPCC, University of Edinburgh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6400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</a:rPr>
              <a:t>Hierarchical BERT Classification</a:t>
            </a:r>
            <a:endParaRPr lang="en-US" sz="3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</a:rPr>
              <a:t>for Fine-Grained</a:t>
            </a:r>
            <a:endParaRPr lang="en-US" sz="3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</a:rPr>
              <a:t>Misinformation Detection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31546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2D78D6"/>
                </a:solidFill>
              </a:rPr>
              <a:t>Taxonomy Extension and Extensibility Limits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3657600"/>
            <a:ext cx="8229600" cy="0"/>
          </a:xfrm>
          <a:prstGeom prst="line">
            <a:avLst/>
          </a:prstGeom>
          <a:noFill/>
          <a:ln w="1016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3794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1D9"/>
                </a:solidFill>
              </a:rPr>
              <a:t>Iman Ein Alizadeh  ·  s2901349  ·  Supervisor: Dr Oliver Brown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675120" y="640080"/>
            <a:ext cx="621792" cy="62179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424928" y="640080"/>
            <a:ext cx="621792" cy="62179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174736" y="640080"/>
            <a:ext cx="621792" cy="62179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675120" y="1389888"/>
            <a:ext cx="621792" cy="62179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424928" y="1389888"/>
            <a:ext cx="621792" cy="621792"/>
          </a:xfrm>
          <a:prstGeom prst="rect">
            <a:avLst/>
          </a:prstGeom>
          <a:solidFill>
            <a:srgbClr val="2D78D6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174736" y="1389888"/>
            <a:ext cx="621792" cy="62179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675120" y="2139696"/>
            <a:ext cx="621792" cy="62179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424928" y="2139696"/>
            <a:ext cx="621792" cy="62179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174736" y="2139696"/>
            <a:ext cx="621792" cy="62179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675120" y="2889504"/>
            <a:ext cx="621792" cy="62179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424928" y="2889504"/>
            <a:ext cx="621792" cy="62179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174736" y="2889504"/>
            <a:ext cx="621792" cy="62179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560320" cy="256032"/>
          </a:xfrm>
          <a:prstGeom prst="rect">
            <a:avLst/>
          </a:prstGeom>
          <a:solidFill>
            <a:srgbClr val="EB683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Binary Detection Is Not Enough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8229600" cy="0"/>
          </a:xfrm>
          <a:prstGeom prst="line">
            <a:avLst/>
          </a:prstGeom>
          <a:noFill/>
          <a:ln w="1016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49E"/>
                </a:solidFill>
              </a:rPr>
              <a:t>Most automated systems answer one question: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"Is this real or fake?"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2487168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8B949E"/>
                </a:solidFill>
              </a:rPr>
              <a:t>That is not the right question.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828800" y="2999232"/>
            <a:ext cx="5486400" cy="0"/>
          </a:xfrm>
          <a:prstGeom prst="line">
            <a:avLst/>
          </a:prstGeom>
          <a:noFill/>
          <a:ln w="1016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1400" dirty="0">
                <a:solidFill>
                  <a:srgbClr val="C9D1D9"/>
                </a:solidFill>
              </a:rPr>
              <a:t>The type of misinformation determines the response.</a:t>
            </a:r>
            <a:endParaRPr lang="en-US" sz="1400" dirty="0"/>
          </a:p>
          <a:p>
            <a:pPr marL="0" indent="0" algn="ctr">
              <a:lnSpc>
                <a:spcPct val="145000"/>
              </a:lnSpc>
              <a:buNone/>
            </a:pPr>
            <a:r>
              <a:rPr lang="en-US" sz="1400" dirty="0">
                <a:solidFill>
                  <a:srgbClr val="C9D1D9"/>
                </a:solidFill>
              </a:rPr>
              <a:t>A binary label tells you nothing about what to do next.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" y="4023360"/>
            <a:ext cx="2606040" cy="868680"/>
          </a:xfrm>
          <a:prstGeom prst="rect">
            <a:avLst/>
          </a:prstGeom>
          <a:solidFill>
            <a:srgbClr val="1C2333"/>
          </a:solidFill>
          <a:ln w="12700">
            <a:solidFill>
              <a:srgbClr val="EDA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409651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DA100"/>
                </a:solidFill>
              </a:rPr>
              <a:t>Satire?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437083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D1D9"/>
                </a:solidFill>
              </a:rPr>
              <a:t>Add context, do not remove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46120" y="4023360"/>
            <a:ext cx="2606040" cy="868680"/>
          </a:xfrm>
          <a:prstGeom prst="rect">
            <a:avLst/>
          </a:prstGeom>
          <a:solidFill>
            <a:srgbClr val="1C2333"/>
          </a:solidFill>
          <a:ln w="12700">
            <a:solidFill>
              <a:srgbClr val="2D78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46120" y="409651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78D6"/>
                </a:solidFill>
              </a:rPr>
              <a:t>Imposter source?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46120" y="437083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D1D9"/>
                </a:solidFill>
              </a:rPr>
              <a:t>Investigate who is behind it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0760" y="4023360"/>
            <a:ext cx="2606040" cy="868680"/>
          </a:xfrm>
          <a:prstGeom prst="rect">
            <a:avLst/>
          </a:prstGeom>
          <a:solidFill>
            <a:srgbClr val="1C2333"/>
          </a:solidFill>
          <a:ln w="12700">
            <a:solidFill>
              <a:srgbClr val="EB68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080760" y="409651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B6834"/>
                </a:solidFill>
              </a:rPr>
              <a:t>Manipulated image?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80760" y="437083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D1D9"/>
                </a:solidFill>
              </a:rPr>
              <a:t>Refer to forensics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560320" cy="256032"/>
          </a:xfrm>
          <a:prstGeom prst="rect">
            <a:avLst/>
          </a:prstGeom>
          <a:solidFill>
            <a:srgbClr val="6E40C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RESEARCH QUESTIONS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Three Questions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8229600" cy="0"/>
          </a:xfrm>
          <a:prstGeom prst="line">
            <a:avLst/>
          </a:prstGeom>
          <a:noFill/>
          <a:ln w="1016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960120"/>
          </a:xfrm>
          <a:prstGeom prst="rect">
            <a:avLst/>
          </a:prstGeom>
          <a:solidFill>
            <a:srgbClr val="1C2333"/>
          </a:solidFill>
          <a:ln w="15240">
            <a:solidFill>
              <a:srgbClr val="2D78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572768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78D6"/>
                </a:solidFill>
              </a:rPr>
              <a:t>RQ1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664208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</a:rPr>
              <a:t>Does a hierarchical design outperform a flat classifier?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8229600" cy="960120"/>
          </a:xfrm>
          <a:prstGeom prst="rect">
            <a:avLst/>
          </a:prstGeom>
          <a:solidFill>
            <a:srgbClr val="1C2333"/>
          </a:solidFill>
          <a:ln w="15240">
            <a:solidFill>
              <a:srgbClr val="1BA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715768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AF7A"/>
                </a:solidFill>
              </a:rPr>
              <a:t>RQ2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08760" y="2807208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</a:rPr>
              <a:t>Can the taxonomy be extended incrementally without breaking what already works?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8229600" cy="960120"/>
          </a:xfrm>
          <a:prstGeom prst="rect">
            <a:avLst/>
          </a:prstGeom>
          <a:solidFill>
            <a:srgbClr val="1C2333"/>
          </a:solidFill>
          <a:ln w="15240">
            <a:solidFill>
              <a:srgbClr val="EB68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3858768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B6834"/>
                </a:solidFill>
              </a:rPr>
              <a:t>RQ3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08760" y="3950208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</a:rPr>
              <a:t>Where does extension stop working — and why?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</a:rPr>
              <a:t>The misinformation landscape evolves. A system that cannot grow will become obsolete.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560320" cy="256032"/>
          </a:xfrm>
          <a:prstGeom prst="rect">
            <a:avLst/>
          </a:prstGeom>
          <a:solidFill>
            <a:srgbClr val="1BAF7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THE SYSTEM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How It Works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8229600" cy="0"/>
          </a:xfrm>
          <a:prstGeom prst="line">
            <a:avLst/>
          </a:prstGeom>
          <a:noFill/>
          <a:ln w="1016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</a:rPr>
              <a:t>Two stages. First assign the post to a broad semantic group. Then identify the specific category within that group.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2011680"/>
            <a:ext cx="1920240" cy="822960"/>
          </a:xfrm>
          <a:prstGeom prst="rect">
            <a:avLst/>
          </a:prstGeom>
          <a:solidFill>
            <a:srgbClr val="1C2333"/>
          </a:solidFill>
          <a:ln w="1524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20116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949E"/>
                </a:solidFill>
              </a:rPr>
              <a:t>Reddit Post Title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94560" y="2423160"/>
            <a:ext cx="25603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450592" y="2011680"/>
            <a:ext cx="1920240" cy="822960"/>
          </a:xfrm>
          <a:prstGeom prst="rect">
            <a:avLst/>
          </a:prstGeom>
          <a:solidFill>
            <a:srgbClr val="1C2333"/>
          </a:solidFill>
          <a:ln w="15240">
            <a:solidFill>
              <a:srgbClr val="2D78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50592" y="20116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78D6"/>
                </a:solidFill>
              </a:rPr>
              <a:t>BERT Encoder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D78D6"/>
                </a:solidFill>
              </a:rPr>
              <a:t>768-dim representation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70832" y="2423160"/>
            <a:ext cx="25603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26864" y="2011680"/>
            <a:ext cx="1920240" cy="822960"/>
          </a:xfrm>
          <a:prstGeom prst="rect">
            <a:avLst/>
          </a:prstGeom>
          <a:solidFill>
            <a:srgbClr val="1C2333"/>
          </a:solidFill>
          <a:ln w="15240">
            <a:solidFill>
              <a:srgbClr val="6E40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26864" y="20116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E40C9"/>
                </a:solidFill>
              </a:rPr>
              <a:t>Coarse Head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6E40C9"/>
                </a:solidFill>
              </a:rPr>
              <a:t>Which group?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47104" y="2423160"/>
            <a:ext cx="256032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803136" y="2011680"/>
            <a:ext cx="1920240" cy="822960"/>
          </a:xfrm>
          <a:prstGeom prst="rect">
            <a:avLst/>
          </a:prstGeom>
          <a:solidFill>
            <a:srgbClr val="1C2333"/>
          </a:solidFill>
          <a:ln w="15240">
            <a:solidFill>
              <a:srgbClr val="1BA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03136" y="20116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AF7A"/>
                </a:solidFill>
              </a:rPr>
              <a:t>Fine Head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BAF7A"/>
                </a:solidFill>
              </a:rPr>
              <a:t>Which category?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063240"/>
            <a:ext cx="8229600" cy="530352"/>
          </a:xfrm>
          <a:prstGeom prst="rect">
            <a:avLst/>
          </a:prstGeom>
          <a:solidFill>
            <a:srgbClr val="1C2333"/>
          </a:solidFill>
          <a:ln w="12700">
            <a:solidFill>
              <a:srgbClr val="1BA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" y="315468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AF7A"/>
                </a:solidFill>
              </a:rPr>
              <a:t>Group 0: Authentic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0" y="315468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</a:rPr>
              <a:t>True Content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685032"/>
            <a:ext cx="8229600" cy="530352"/>
          </a:xfrm>
          <a:prstGeom prst="rect">
            <a:avLst/>
          </a:prstGeom>
          <a:solidFill>
            <a:srgbClr val="1C2333"/>
          </a:solidFill>
          <a:ln w="12700">
            <a:solidFill>
              <a:srgbClr val="EDA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4360" y="377647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DA100"/>
                </a:solidFill>
              </a:rPr>
              <a:t>Group 1: Structural Deception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0" y="377647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</a:rPr>
              <a:t>Misleading Content  ·  False Connection  ·  Clickbait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306824"/>
            <a:ext cx="8229600" cy="530352"/>
          </a:xfrm>
          <a:prstGeom prst="rect">
            <a:avLst/>
          </a:prstGeom>
          <a:solidFill>
            <a:srgbClr val="1C2333"/>
          </a:solidFill>
          <a:ln w="12700">
            <a:solidFill>
              <a:srgbClr val="EB68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94360" y="439826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B6834"/>
                </a:solidFill>
              </a:rPr>
              <a:t>Group 2: Fabricated / Manipulated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0" y="4398264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</a:rPr>
              <a:t>Satire  ·  Imposter Content  ·  Manipulated Content  ·  AI-Generated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91947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949E"/>
                </a:solidFill>
              </a:rPr>
              <a:t>Independent fine heads — adding a new category only requires retraining one head, not the whole model.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560320" cy="256032"/>
          </a:xfrm>
          <a:prstGeom prst="rect">
            <a:avLst/>
          </a:prstGeom>
          <a:solidFill>
            <a:srgbClr val="2D78D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RQ1 RESULT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Hierarchical Outperforms Flat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8229600" cy="0"/>
          </a:xfrm>
          <a:prstGeom prst="line">
            <a:avLst/>
          </a:prstGeom>
          <a:noFill/>
          <a:ln w="1016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2560320" cy="1371600"/>
          </a:xfrm>
          <a:prstGeom prst="rect">
            <a:avLst/>
          </a:prstGeom>
          <a:solidFill>
            <a:srgbClr val="1C2333"/>
          </a:solidFill>
          <a:ln w="1905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949E"/>
                </a:solidFill>
              </a:rPr>
              <a:t>Flat Baseline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Macro F1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148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B949E"/>
                </a:solidFill>
              </a:rPr>
              <a:t>0.75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566160" y="1463040"/>
            <a:ext cx="2560320" cy="1371600"/>
          </a:xfrm>
          <a:prstGeom prst="rect">
            <a:avLst/>
          </a:prstGeom>
          <a:solidFill>
            <a:srgbClr val="1C2333"/>
          </a:solidFill>
          <a:ln w="19050">
            <a:solidFill>
              <a:srgbClr val="2D78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66160" y="1554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78D6"/>
                </a:solidFill>
              </a:rPr>
              <a:t>Hierarchical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66160" y="19202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Macro F1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66160" y="2148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D78D6"/>
                </a:solidFill>
              </a:rPr>
              <a:t>0.77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6400800" y="1463040"/>
            <a:ext cx="2286000" cy="1371600"/>
          </a:xfrm>
          <a:prstGeom prst="rect">
            <a:avLst/>
          </a:prstGeom>
          <a:solidFill>
            <a:srgbClr val="1C2333"/>
          </a:solidFill>
          <a:ln w="15240">
            <a:solidFill>
              <a:srgbClr val="6E40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0" y="15544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E40C9"/>
                </a:solidFill>
              </a:rPr>
              <a:t>Statistically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6E40C9"/>
                </a:solidFill>
              </a:rPr>
              <a:t>significant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21031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1D9"/>
                </a:solidFill>
              </a:rPr>
              <a:t>p = 0.023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9D1D9"/>
                </a:solidFill>
              </a:rPr>
              <a:t>Cohen's d = 1.41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8229600" cy="0"/>
          </a:xfrm>
          <a:prstGeom prst="line">
            <a:avLst/>
          </a:prstGeom>
          <a:noFill/>
          <a:ln w="1016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154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Where did the gains come from?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52044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9D1D9"/>
                </a:solidFill>
              </a:rPr>
              <a:t>The largest improvements appeared on the minority categories — Satire/Parody and Imposter Content — exactly where the hierarchical design has a theoretical advantage. By routing posts to a semantic group first, the fine head receives a more balanced training signal. The majority class problem shrinks from 18× to 2.8× within the group.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BAF7A"/>
                </a:solidFill>
              </a:rPr>
              <a:t>The real value is architectural — independent heads make the system extensible in a way a flat classifier cannot be.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560320" cy="256032"/>
          </a:xfrm>
          <a:prstGeom prst="rect">
            <a:avLst/>
          </a:prstGeom>
          <a:solidFill>
            <a:srgbClr val="1BAF7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RQ2 RESULT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The Taxonomy Can Grow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8229600" cy="0"/>
          </a:xfrm>
          <a:prstGeom prst="line">
            <a:avLst/>
          </a:prstGeom>
          <a:noFill/>
          <a:ln w="1016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</a:rPr>
              <a:t>We added two new categories without retraining the whole model.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3977640" cy="2834640"/>
          </a:xfrm>
          <a:prstGeom prst="rect">
            <a:avLst/>
          </a:prstGeom>
          <a:solidFill>
            <a:srgbClr val="1C2333"/>
          </a:solidFill>
          <a:ln w="19050">
            <a:solidFill>
              <a:srgbClr val="2D78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78D6"/>
                </a:solidFill>
              </a:rPr>
              <a:t>AI-Generated Content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49E"/>
                </a:solidFill>
              </a:rPr>
              <a:t>Three attempts required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Attempt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37360" y="274320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53030"/>
                </a:solidFill>
              </a:rPr>
              <a:t>F1 0.11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34640" y="27432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9D1D9"/>
                </a:solidFill>
              </a:rPr>
              <a:t>Wrong format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33756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Attempt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37360" y="333756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DA100"/>
                </a:solidFill>
              </a:rPr>
              <a:t>F1 0.31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34640" y="33375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9D1D9"/>
                </a:solidFill>
              </a:rPr>
              <a:t>Noisy labels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9319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Attempt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37360" y="393192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AF7A"/>
                </a:solidFill>
              </a:rPr>
              <a:t>F1 0.90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834640" y="39319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9D1D9"/>
                </a:solidFill>
              </a:rPr>
              <a:t>Purpose-built data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1874520"/>
            <a:ext cx="3977640" cy="2834640"/>
          </a:xfrm>
          <a:prstGeom prst="rect">
            <a:avLst/>
          </a:prstGeom>
          <a:solidFill>
            <a:srgbClr val="1C2333"/>
          </a:solidFill>
          <a:ln w="19050">
            <a:solidFill>
              <a:srgbClr val="1BA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09160" y="196596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AF7A"/>
                </a:solidFill>
              </a:rPr>
              <a:t>Clickbait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09160" y="237744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49E"/>
                </a:solidFill>
              </a:rPr>
              <a:t>Domain alignment applied from the start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27432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F1 score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0" y="274320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AF7A"/>
                </a:solidFill>
              </a:rPr>
              <a:t>0.83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33375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Training time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0" y="333756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D78D6"/>
                </a:solidFill>
              </a:rPr>
              <a:t>28 min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0" y="39319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Predictions changed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0" y="393192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E40C9"/>
                </a:solidFill>
              </a:rPr>
              <a:t>16 / 59,319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BAF7A"/>
                </a:solidFill>
              </a:rPr>
              <a:t>Key lesson: domain alignment matters more than dataset size. Format first, volume second.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560320" cy="256032"/>
          </a:xfrm>
          <a:prstGeom prst="rect">
            <a:avLst/>
          </a:prstGeom>
          <a:solidFill>
            <a:srgbClr val="EB683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ERROR ANALYSIS &amp; V5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Finding the Bottleneck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8229600" cy="0"/>
          </a:xfrm>
          <a:prstGeom prst="line">
            <a:avLst/>
          </a:prstGeom>
          <a:noFill/>
          <a:ln w="1016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200400" cy="1371600"/>
          </a:xfrm>
          <a:prstGeom prst="rect">
            <a:avLst/>
          </a:prstGeom>
          <a:solidFill>
            <a:srgbClr val="1C2333"/>
          </a:solidFill>
          <a:ln w="19050">
            <a:solidFill>
              <a:srgbClr val="EB68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B6834"/>
                </a:solidFill>
              </a:rPr>
              <a:t>71.2%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1D9"/>
                </a:solidFill>
              </a:rPr>
              <a:t>of all errors are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9D1D9"/>
                </a:solidFill>
              </a:rPr>
              <a:t>routing errors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31920" y="150876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9D1D9"/>
                </a:solidFill>
              </a:rPr>
              <a:t>The coarse head — not the fine heads — is the primary bottleneck.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9D1D9"/>
                </a:solidFill>
              </a:rPr>
              <a:t>When routing is correct, the fine heads get it right over 90% of the time. The problem is Stage 1, not Stage 2.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154680"/>
            <a:ext cx="8229600" cy="0"/>
          </a:xfrm>
          <a:prstGeom prst="line">
            <a:avLst/>
          </a:prstGeom>
          <a:noFill/>
          <a:ln w="1016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Four targeted interventions — each grounded in a specific finding from the error analysis.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703320"/>
            <a:ext cx="4069080" cy="475488"/>
          </a:xfrm>
          <a:prstGeom prst="rect">
            <a:avLst/>
          </a:prstGeom>
          <a:solidFill>
            <a:srgbClr val="1C2333"/>
          </a:solidFill>
          <a:ln w="10160">
            <a:solidFill>
              <a:srgbClr val="EB68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6928" y="37490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B6834"/>
                </a:solidFill>
              </a:rPr>
              <a:t>Weighted Loss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0" y="37490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8B949E"/>
                </a:solidFill>
              </a:rPr>
              <a:t>Minority categories upweighted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00600" y="3703320"/>
            <a:ext cx="4069080" cy="475488"/>
          </a:xfrm>
          <a:prstGeom prst="rect">
            <a:avLst/>
          </a:prstGeom>
          <a:solidFill>
            <a:srgbClr val="1C2333"/>
          </a:solidFill>
          <a:ln w="10160">
            <a:solidFill>
              <a:srgbClr val="2D78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10328" y="37490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78D6"/>
                </a:solidFill>
              </a:rPr>
              <a:t>Differential Learning Rates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086600" y="37490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8B949E"/>
                </a:solidFill>
              </a:rPr>
              <a:t>Coarse head trained faster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297680"/>
            <a:ext cx="4069080" cy="475488"/>
          </a:xfrm>
          <a:prstGeom prst="rect">
            <a:avLst/>
          </a:prstGeom>
          <a:solidFill>
            <a:srgbClr val="1C2333"/>
          </a:solidFill>
          <a:ln w="10160">
            <a:solidFill>
              <a:srgbClr val="6E40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6928" y="43434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E40C9"/>
                </a:solidFill>
              </a:rPr>
              <a:t>Partial BERT Unfreeze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0" y="434340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8B949E"/>
                </a:solidFill>
              </a:rPr>
              <a:t>Top layers adapt to routing task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4297680"/>
            <a:ext cx="4069080" cy="475488"/>
          </a:xfrm>
          <a:prstGeom prst="rect">
            <a:avLst/>
          </a:prstGeom>
          <a:solidFill>
            <a:srgbClr val="1C2333"/>
          </a:solidFill>
          <a:ln w="10160">
            <a:solidFill>
              <a:srgbClr val="1BA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10328" y="43434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AF7A"/>
                </a:solidFill>
              </a:rPr>
              <a:t>Label Smoothing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086600" y="434340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8B949E"/>
                </a:solidFill>
              </a:rPr>
              <a:t>Reduces overconfident errors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91947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1BAF7A"/>
                </a:solidFill>
              </a:rPr>
              <a:t>Result: every single category improved simultaneously.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560320" cy="256032"/>
          </a:xfrm>
          <a:prstGeom prst="rect">
            <a:avLst/>
          </a:prstGeom>
          <a:solidFill>
            <a:srgbClr val="EB683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RQ3: EXTENSIBILITY LIMIT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Four Conditions for a Valid Extension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8229600" cy="0"/>
          </a:xfrm>
          <a:prstGeom prst="line">
            <a:avLst/>
          </a:prstGeom>
          <a:noFill/>
          <a:ln w="1016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949E"/>
                </a:solidFill>
              </a:rPr>
              <a:t>All four must pass simultaneously. Fixed before any experiment ran — no adjusting thresholds after seeing results.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810512"/>
            <a:ext cx="4160520" cy="1444752"/>
          </a:xfrm>
          <a:prstGeom prst="rect">
            <a:avLst/>
          </a:prstGeom>
          <a:solidFill>
            <a:srgbClr val="1C2333"/>
          </a:solidFill>
          <a:ln w="15240">
            <a:solidFill>
              <a:srgbClr val="2D78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" y="188366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78D6"/>
                </a:solidFill>
              </a:rPr>
              <a:t>1.  F1 &gt; 0.65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217627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FFFF"/>
                </a:solidFill>
              </a:rPr>
              <a:t>Has the model actually learned the new category?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4048" y="2487168"/>
            <a:ext cx="384048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84048" y="2560320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9D1D9"/>
                </a:solidFill>
              </a:rPr>
              <a:t>Below 0.65 the model is wrong more than one in three times — not useful in any real system.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810512"/>
            <a:ext cx="4160520" cy="1444752"/>
          </a:xfrm>
          <a:prstGeom prst="rect">
            <a:avLst/>
          </a:prstGeom>
          <a:solidFill>
            <a:srgbClr val="1C2333"/>
          </a:solidFill>
          <a:ln w="15240">
            <a:solidFill>
              <a:srgbClr val="1BA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18888" y="188366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AF7A"/>
                </a:solidFill>
              </a:rPr>
              <a:t>2.  Max drop &lt; 0.03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18888" y="217627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FFFF"/>
                </a:solidFill>
              </a:rPr>
              <a:t>Has anything the model already knew been damaged?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18888" y="2487168"/>
            <a:ext cx="384048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18888" y="2560320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9D1D9"/>
                </a:solidFill>
              </a:rPr>
              <a:t>A 0.01 drop is normal noise. A 0.03 drop on any single existing category means something that worked is now broken.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383280"/>
            <a:ext cx="4160520" cy="1444752"/>
          </a:xfrm>
          <a:prstGeom prst="rect">
            <a:avLst/>
          </a:prstGeom>
          <a:solidFill>
            <a:srgbClr val="1C2333"/>
          </a:solidFill>
          <a:ln w="15240">
            <a:solidFill>
              <a:srgbClr val="EDA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84048" y="34564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DA100"/>
                </a:solidFill>
              </a:rPr>
              <a:t>3.  Routing increase &lt; +5%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048" y="37490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FFFF"/>
                </a:solidFill>
              </a:rPr>
              <a:t>Is the routing stage still making good decisions?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84048" y="4059936"/>
            <a:ext cx="384048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84048" y="4133088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9D1D9"/>
                </a:solidFill>
              </a:rPr>
              <a:t>A routing error makes a correct category prediction impossible. A +5% increase cascades across every category simultaneously.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09160" y="3383280"/>
            <a:ext cx="4160520" cy="1444752"/>
          </a:xfrm>
          <a:prstGeom prst="rect">
            <a:avLst/>
          </a:prstGeom>
          <a:solidFill>
            <a:srgbClr val="1C2333"/>
          </a:solidFill>
          <a:ln w="15240">
            <a:solidFill>
              <a:srgbClr val="6E40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18888" y="34564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E40C9"/>
                </a:solidFill>
              </a:rPr>
              <a:t>4.  ECE &lt; 0.20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18888" y="37490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FFFF"/>
                </a:solidFill>
              </a:rPr>
              <a:t>Can you still trust the confidence scores?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18888" y="4059936"/>
            <a:ext cx="384048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18888" y="4133088"/>
            <a:ext cx="3913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9D1D9"/>
                </a:solidFill>
              </a:rPr>
              <a:t>In deployment, confidence scores decide which predictions get flagged for human review. Above 0.20 those scores are no longer reliable.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4828032"/>
            <a:ext cx="8229600" cy="0"/>
          </a:xfrm>
          <a:prstGeom prst="line">
            <a:avLst/>
          </a:prstGeom>
          <a:noFill/>
          <a:ln w="1016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B6834"/>
                </a:solidFill>
              </a:rPr>
              <a:t>Junk News failed Criterion 1. Propaganda failed Criteria 1 and 3. The criteria told us exactly where and why.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560320" cy="256032"/>
          </a:xfrm>
          <a:prstGeom prst="rect">
            <a:avLst/>
          </a:prstGeom>
          <a:solidFill>
            <a:srgbClr val="6E40C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CONCLUSIONS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What This Project Establishes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8229600" cy="0"/>
          </a:xfrm>
          <a:prstGeom prst="line">
            <a:avLst/>
          </a:prstGeom>
          <a:noFill/>
          <a:ln w="1016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960120"/>
          </a:xfrm>
          <a:prstGeom prst="rect">
            <a:avLst/>
          </a:prstGeom>
          <a:solidFill>
            <a:srgbClr val="1C2333"/>
          </a:solidFill>
          <a:ln w="15240">
            <a:solidFill>
              <a:srgbClr val="2D78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572768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78D6"/>
                </a:solidFill>
              </a:rPr>
              <a:t>RQ1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64592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</a:rPr>
              <a:t>Hierarchical classification outperforms flat. Gains concentrated on minority categories exactly where theory predicts.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8229600" cy="960120"/>
          </a:xfrm>
          <a:prstGeom prst="rect">
            <a:avLst/>
          </a:prstGeom>
          <a:solidFill>
            <a:srgbClr val="1C2333"/>
          </a:solidFill>
          <a:ln w="15240">
            <a:solidFill>
              <a:srgbClr val="1BA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2670048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AF7A"/>
                </a:solidFill>
              </a:rPr>
              <a:t>RQ2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74320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</a:rPr>
              <a:t>Taxonomy extension works. Domain alignment is the decisive factor. New categories added in 28 minutes with negligible regression.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8229600" cy="960120"/>
          </a:xfrm>
          <a:prstGeom prst="rect">
            <a:avLst/>
          </a:prstGeom>
          <a:solidFill>
            <a:srgbClr val="1C2333"/>
          </a:solidFill>
          <a:ln w="15240">
            <a:solidFill>
              <a:srgbClr val="EB68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3767328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B6834"/>
                </a:solidFill>
              </a:rPr>
              <a:t>RQ3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384048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</a:rPr>
              <a:t>Eight categories is the text-only ceiling. Two failure modes identified and characterised. The path forward is multimodal.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016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40C9"/>
                </a:solidFill>
              </a:rPr>
              <a:t>Next step: combine BERT with a visual encoder to access the image-based signals text-only classification cannot reach.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560320" cy="256032"/>
          </a:xfrm>
          <a:prstGeom prst="rect">
            <a:avLst/>
          </a:prstGeom>
          <a:solidFill>
            <a:srgbClr val="6E40C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CONCLUSION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Reflecting on the Project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8229600" cy="0"/>
          </a:xfrm>
          <a:prstGeom prst="line">
            <a:avLst/>
          </a:prstGeom>
          <a:noFill/>
          <a:ln w="1016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8229600" cy="640080"/>
          </a:xfrm>
          <a:prstGeom prst="rect">
            <a:avLst/>
          </a:prstGeom>
          <a:solidFill>
            <a:srgbClr val="1C2333"/>
          </a:solidFill>
          <a:ln w="10160">
            <a:solidFill>
              <a:srgbClr val="2D78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44475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78D6"/>
                </a:solidFill>
              </a:rPr>
              <a:t>Did results match objectives?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1481328"/>
            <a:ext cx="0" cy="45720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29000" y="144475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9D1D9"/>
                </a:solidFill>
              </a:rPr>
              <a:t>Yes. All three RQs answered empirically. The hierarchical design works, extension works, and the extensibility limit is now formally characterised.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121408"/>
            <a:ext cx="8229600" cy="640080"/>
          </a:xfrm>
          <a:prstGeom prst="rect">
            <a:avLst/>
          </a:prstGeom>
          <a:solidFill>
            <a:srgbClr val="1C2333"/>
          </a:solidFill>
          <a:ln w="10160">
            <a:solidFill>
              <a:srgbClr val="1BA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21762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AF7A"/>
                </a:solidFill>
              </a:rPr>
              <a:t>Was everything accomplished?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2212848"/>
            <a:ext cx="0" cy="45720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29000" y="217627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9D1D9"/>
                </a:solidFill>
              </a:rPr>
              <a:t>Mostly. V5 ran for one epoch due to a session disconnection — results are a lower bound. Conspiracy Theory produced only 14 samples, leaving that attempt incomplete.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852928"/>
            <a:ext cx="8229600" cy="640080"/>
          </a:xfrm>
          <a:prstGeom prst="rect">
            <a:avLst/>
          </a:prstGeom>
          <a:solidFill>
            <a:srgbClr val="1C2333"/>
          </a:solidFill>
          <a:ln w="10160">
            <a:solidFill>
              <a:srgbClr val="EDA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290779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DA100"/>
                </a:solidFill>
              </a:rPr>
              <a:t>What would be done differently?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91840" y="2944368"/>
            <a:ext cx="0" cy="45720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29000" y="290779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9D1D9"/>
                </a:solidFill>
              </a:rPr>
              <a:t>Weight the coarse loss higher from the start — error analysis showed it is the bottleneck. Apply V5 interventions sequentially to isolate each contribution.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584448"/>
            <a:ext cx="8229600" cy="640080"/>
          </a:xfrm>
          <a:prstGeom prst="rect">
            <a:avLst/>
          </a:prstGeom>
          <a:solidFill>
            <a:srgbClr val="1C2333"/>
          </a:solidFill>
          <a:ln w="10160">
            <a:solidFill>
              <a:srgbClr val="EB68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" y="363931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B6834"/>
                </a:solidFill>
              </a:rPr>
              <a:t>What are the next steps?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91840" y="3675888"/>
            <a:ext cx="0" cy="45720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429000" y="363931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9D1D9"/>
                </a:solidFill>
              </a:rPr>
              <a:t>Multimodal extension — add a visual encoder for categories whose deception is in the image. Source metadata for Junk News. Full V5 seed replication.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315968"/>
            <a:ext cx="8229600" cy="640080"/>
          </a:xfrm>
          <a:prstGeom prst="rect">
            <a:avLst/>
          </a:prstGeom>
          <a:solidFill>
            <a:srgbClr val="1C2333"/>
          </a:solidFill>
          <a:ln w="10160">
            <a:solidFill>
              <a:srgbClr val="6E40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4360" y="43708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E40C9"/>
                </a:solidFill>
              </a:rPr>
              <a:t>Why does this matter?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91840" y="4407408"/>
            <a:ext cx="0" cy="45720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429000" y="437083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9D1D9"/>
                </a:solidFill>
              </a:rPr>
              <a:t>First formal extensibility study on a hierarchical misinformation classifier. Domain alignment principle and the two failure modes are reusable findings for any extensible NLP system.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D78D6"/>
          </a:solidFill>
          <a:ln w="12700">
            <a:solidFill>
              <a:srgbClr val="2D78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8B949E"/>
                </a:solidFill>
              </a:rPr>
              <a:t>Questions welcome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788920"/>
            <a:ext cx="8229600" cy="0"/>
          </a:xfrm>
          <a:prstGeom prst="line">
            <a:avLst/>
          </a:prstGeom>
          <a:noFill/>
          <a:ln w="1016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645920" y="2971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Repository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45920" y="32461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78D6"/>
                </a:solidFill>
              </a:rPr>
              <a:t>git.ecdf.ed.ac.uk/epcc-msc-projects/full-time/2025-26/s2901349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45920" y="3657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45920" y="39319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45920" y="43434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</a:rPr>
              <a:t>ieinalizadeh@gmail.com  ·  linkedin.com/in/imaneinalizadeh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1034</Words>
  <Application>Microsoft Macintosh PowerPoint</Application>
  <PresentationFormat>On-screen Show (16:9)</PresentationFormat>
  <Paragraphs>154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Iman Ein Alizadeh</cp:lastModifiedBy>
  <cp:revision>2</cp:revision>
  <dcterms:created xsi:type="dcterms:W3CDTF">2026-08-12T15:24:19Z</dcterms:created>
  <dcterms:modified xsi:type="dcterms:W3CDTF">2026-08-12T15:28:29Z</dcterms:modified>
</cp:coreProperties>
</file>